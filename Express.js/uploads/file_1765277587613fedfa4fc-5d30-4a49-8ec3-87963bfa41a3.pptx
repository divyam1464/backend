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543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72295B4-4312-4E81-931E-5C9FF41C7E03}">
          <p14:sldIdLst>
            <p14:sldId id="21474754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5C8B48-02E7-71AB-9702-3E0C3AE58E3B}" name="Rajgopal, Vaishnavi" initials="" userId="S::Vaishnavi.Rajgopal@AB-inbev.com::9f1f9042-0cba-43ef-8458-4ec30c232da6" providerId="AD"/>
  <p188:author id="{BDE0EF57-8683-A1FA-0D1E-DFE6599254AD}" name="Kadam, Abhijeet" initials="KA" userId="S::abhijeet.kadam@ab-inbev.com::ef3607bc-8f34-40d3-b402-eac4684c4b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8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6B799-B1CB-4550-A0FA-020CF6F5DDDC}" v="3" dt="2025-10-24T11:53:11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to, Mohit" userId="S::40107810@ab-inbev.com::e41f321b-4d32-477b-9ed1-f99489e7be4f" providerId="AD" clId="Web-{6322CA97-151A-F803-077F-3CB80713B08C}"/>
    <pc:docChg chg="modSld">
      <pc:chgData name="Mahato, Mohit" userId="S::40107810@ab-inbev.com::e41f321b-4d32-477b-9ed1-f99489e7be4f" providerId="AD" clId="Web-{6322CA97-151A-F803-077F-3CB80713B08C}" dt="2025-10-16T09:25:47.227" v="55"/>
      <pc:docMkLst>
        <pc:docMk/>
      </pc:docMkLst>
      <pc:sldChg chg="modSp">
        <pc:chgData name="Mahato, Mohit" userId="S::40107810@ab-inbev.com::e41f321b-4d32-477b-9ed1-f99489e7be4f" providerId="AD" clId="Web-{6322CA97-151A-F803-077F-3CB80713B08C}" dt="2025-10-16T09:25:47.227" v="55"/>
        <pc:sldMkLst>
          <pc:docMk/>
          <pc:sldMk cId="2770732998" sldId="2147475432"/>
        </pc:sldMkLst>
        <pc:graphicFrameChg chg="mod modGraphic">
          <ac:chgData name="Mahato, Mohit" userId="S::40107810@ab-inbev.com::e41f321b-4d32-477b-9ed1-f99489e7be4f" providerId="AD" clId="Web-{6322CA97-151A-F803-077F-3CB80713B08C}" dt="2025-10-16T09:25:47.227" v="55"/>
          <ac:graphicFrameMkLst>
            <pc:docMk/>
            <pc:sldMk cId="2770732998" sldId="2147475432"/>
            <ac:graphicFrameMk id="7" creationId="{196F5A3D-9359-DBA2-34CE-02CE47090E4D}"/>
          </ac:graphicFrameMkLst>
        </pc:graphicFrameChg>
        <pc:graphicFrameChg chg="mod modGraphic">
          <ac:chgData name="Mahato, Mohit" userId="S::40107810@ab-inbev.com::e41f321b-4d32-477b-9ed1-f99489e7be4f" providerId="AD" clId="Web-{6322CA97-151A-F803-077F-3CB80713B08C}" dt="2025-10-16T09:25:34.336" v="53"/>
          <ac:graphicFrameMkLst>
            <pc:docMk/>
            <pc:sldMk cId="2770732998" sldId="2147475432"/>
            <ac:graphicFrameMk id="12" creationId="{3C15F470-5F71-CA26-B129-13D21532B0F0}"/>
          </ac:graphicFrameMkLst>
        </pc:graphicFrameChg>
      </pc:sldChg>
    </pc:docChg>
  </pc:docChgLst>
  <pc:docChgLst>
    <pc:chgData name="Mahato, Mohit" userId="S::40107810@ab-inbev.com::e41f321b-4d32-477b-9ed1-f99489e7be4f" providerId="AD" clId="Web-{F2D0507E-B921-5CFC-E2ED-F6E5D7CAC998}"/>
    <pc:docChg chg="modSld">
      <pc:chgData name="Mahato, Mohit" userId="S::40107810@ab-inbev.com::e41f321b-4d32-477b-9ed1-f99489e7be4f" providerId="AD" clId="Web-{F2D0507E-B921-5CFC-E2ED-F6E5D7CAC998}" dt="2025-10-16T09:18:40.893" v="69"/>
      <pc:docMkLst>
        <pc:docMk/>
      </pc:docMkLst>
      <pc:sldChg chg="addSp delSp modSp">
        <pc:chgData name="Mahato, Mohit" userId="S::40107810@ab-inbev.com::e41f321b-4d32-477b-9ed1-f99489e7be4f" providerId="AD" clId="Web-{F2D0507E-B921-5CFC-E2ED-F6E5D7CAC998}" dt="2025-10-16T09:18:40.893" v="69"/>
        <pc:sldMkLst>
          <pc:docMk/>
          <pc:sldMk cId="2770732998" sldId="2147475432"/>
        </pc:sldMkLst>
        <pc:graphicFrameChg chg="add del mod modGraphic">
          <ac:chgData name="Mahato, Mohit" userId="S::40107810@ab-inbev.com::e41f321b-4d32-477b-9ed1-f99489e7be4f" providerId="AD" clId="Web-{F2D0507E-B921-5CFC-E2ED-F6E5D7CAC998}" dt="2025-10-16T09:18:40.893" v="69"/>
          <ac:graphicFrameMkLst>
            <pc:docMk/>
            <pc:sldMk cId="2770732998" sldId="2147475432"/>
            <ac:graphicFrameMk id="12" creationId="{3C15F470-5F71-CA26-B129-13D21532B0F0}"/>
          </ac:graphicFrameMkLst>
        </pc:graphicFrameChg>
      </pc:sldChg>
    </pc:docChg>
  </pc:docChgLst>
  <pc:docChgLst>
    <pc:chgData name="Mahato, Mohit" userId="e41f321b-4d32-477b-9ed1-f99489e7be4f" providerId="ADAL" clId="{C859CABB-D9F2-40F0-B74A-82731BDEE174}"/>
    <pc:docChg chg="undo custSel modSld">
      <pc:chgData name="Mahato, Mohit" userId="e41f321b-4d32-477b-9ed1-f99489e7be4f" providerId="ADAL" clId="{C859CABB-D9F2-40F0-B74A-82731BDEE174}" dt="2025-10-16T09:24:16.535" v="64" actId="20577"/>
      <pc:docMkLst>
        <pc:docMk/>
      </pc:docMkLst>
      <pc:sldChg chg="modSp mod">
        <pc:chgData name="Mahato, Mohit" userId="e41f321b-4d32-477b-9ed1-f99489e7be4f" providerId="ADAL" clId="{C859CABB-D9F2-40F0-B74A-82731BDEE174}" dt="2025-10-16T09:24:16.535" v="64" actId="20577"/>
        <pc:sldMkLst>
          <pc:docMk/>
          <pc:sldMk cId="2770732998" sldId="2147475432"/>
        </pc:sldMkLst>
        <pc:graphicFrameChg chg="mod modGraphic">
          <ac:chgData name="Mahato, Mohit" userId="e41f321b-4d32-477b-9ed1-f99489e7be4f" providerId="ADAL" clId="{C859CABB-D9F2-40F0-B74A-82731BDEE174}" dt="2025-10-16T09:24:16.535" v="64" actId="20577"/>
          <ac:graphicFrameMkLst>
            <pc:docMk/>
            <pc:sldMk cId="2770732998" sldId="2147475432"/>
            <ac:graphicFrameMk id="12" creationId="{3C15F470-5F71-CA26-B129-13D21532B0F0}"/>
          </ac:graphicFrameMkLst>
        </pc:graphicFrameChg>
      </pc:sldChg>
    </pc:docChg>
  </pc:docChgLst>
  <pc:docChgLst>
    <pc:chgData name="Deepesh Kumar Singh" userId="0d91ccf9-f5b3-4914-ae18-be995f0a58f5" providerId="ADAL" clId="{1AA6B799-B1CB-4550-A0FA-020CF6F5DDDC}"/>
    <pc:docChg chg="modSld">
      <pc:chgData name="Deepesh Kumar Singh" userId="0d91ccf9-f5b3-4914-ae18-be995f0a58f5" providerId="ADAL" clId="{1AA6B799-B1CB-4550-A0FA-020CF6F5DDDC}" dt="2025-10-24T11:53:11.406" v="2" actId="1076"/>
      <pc:docMkLst>
        <pc:docMk/>
      </pc:docMkLst>
      <pc:sldChg chg="addSp delSp modSp">
        <pc:chgData name="Deepesh Kumar Singh" userId="0d91ccf9-f5b3-4914-ae18-be995f0a58f5" providerId="ADAL" clId="{1AA6B799-B1CB-4550-A0FA-020CF6F5DDDC}" dt="2025-10-24T11:53:11.406" v="2" actId="1076"/>
        <pc:sldMkLst>
          <pc:docMk/>
          <pc:sldMk cId="2770732998" sldId="2147475432"/>
        </pc:sldMkLst>
        <pc:spChg chg="add del mod">
          <ac:chgData name="Deepesh Kumar Singh" userId="0d91ccf9-f5b3-4914-ae18-be995f0a58f5" providerId="ADAL" clId="{1AA6B799-B1CB-4550-A0FA-020CF6F5DDDC}" dt="2025-10-24T11:53:11.406" v="2" actId="1076"/>
          <ac:spMkLst>
            <pc:docMk/>
            <pc:sldMk cId="2770732998" sldId="2147475432"/>
            <ac:spMk id="13" creationId="{3A796E97-4583-00D4-4F33-B00430CE281D}"/>
          </ac:spMkLst>
        </pc:spChg>
      </pc:sldChg>
    </pc:docChg>
  </pc:docChgLst>
  <pc:docChgLst>
    <pc:chgData name="Mahato, Mohit" userId="S::40107810@ab-inbev.com::e41f321b-4d32-477b-9ed1-f99489e7be4f" providerId="AD" clId="Web-{B46D64FE-5B09-EACE-CA94-9B0CCA4E4D0B}"/>
    <pc:docChg chg="modSld">
      <pc:chgData name="Mahato, Mohit" userId="S::40107810@ab-inbev.com::e41f321b-4d32-477b-9ed1-f99489e7be4f" providerId="AD" clId="Web-{B46D64FE-5B09-EACE-CA94-9B0CCA4E4D0B}" dt="2025-10-16T07:39:42.056" v="57"/>
      <pc:docMkLst>
        <pc:docMk/>
      </pc:docMkLst>
      <pc:sldChg chg="addSp delSp modSp">
        <pc:chgData name="Mahato, Mohit" userId="S::40107810@ab-inbev.com::e41f321b-4d32-477b-9ed1-f99489e7be4f" providerId="AD" clId="Web-{B46D64FE-5B09-EACE-CA94-9B0CCA4E4D0B}" dt="2025-10-16T07:39:42.056" v="57"/>
        <pc:sldMkLst>
          <pc:docMk/>
          <pc:sldMk cId="2770732998" sldId="2147475432"/>
        </pc:sldMkLst>
        <pc:graphicFrameChg chg="add del mod">
          <ac:chgData name="Mahato, Mohit" userId="S::40107810@ab-inbev.com::e41f321b-4d32-477b-9ed1-f99489e7be4f" providerId="AD" clId="Web-{B46D64FE-5B09-EACE-CA94-9B0CCA4E4D0B}" dt="2025-10-16T07:37:49.492" v="17"/>
          <ac:graphicFrameMkLst>
            <pc:docMk/>
            <pc:sldMk cId="2770732998" sldId="2147475432"/>
            <ac:graphicFrameMk id="3" creationId="{8780D556-2CFB-2C12-96F4-A2DC6AD0F4B8}"/>
          </ac:graphicFrameMkLst>
        </pc:graphicFrameChg>
        <pc:graphicFrameChg chg="mod modGraphic">
          <ac:chgData name="Mahato, Mohit" userId="S::40107810@ab-inbev.com::e41f321b-4d32-477b-9ed1-f99489e7be4f" providerId="AD" clId="Web-{B46D64FE-5B09-EACE-CA94-9B0CCA4E4D0B}" dt="2025-10-16T07:39:42.056" v="57"/>
          <ac:graphicFrameMkLst>
            <pc:docMk/>
            <pc:sldMk cId="2770732998" sldId="2147475432"/>
            <ac:graphicFrameMk id="12" creationId="{3C15F470-5F71-CA26-B129-13D21532B0F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F22F5-5E70-47A2-A1CC-FEACAB1E53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89AB3-8303-4C48-BF92-C2B5695F1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4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98975A-C83C-4B4B-A264-2AFD70F78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461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A0FF-3E25-8181-B633-4940BF451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92A68-C124-6A98-8FD7-CBD6DF056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9793D-4B10-3171-52F1-07760639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97C5A-3C64-40EE-4148-F2D90DC3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ECA0-82D2-BC92-B86B-A439639C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5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99B2-8769-5917-9232-29D2553E5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70F8-3BF5-FE14-4A3F-E3CA8DCBC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B1528-7937-1A49-5D2E-8289F8466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583C6-F37E-9A30-4C59-BD3D1470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5715C-5A99-EC65-A517-452E1067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2B8C-83D4-1C08-7664-8489C978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EABF-F3E5-1752-C084-A4CF60CF5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6D9E2-B6FF-1821-4AA1-4A8D69C5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BE016-F5DF-6D9C-8141-CA1A96F0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7BEFB-379E-DD63-E498-57185E8A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5175-BB7F-5669-018F-6637FEA0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8269F-E39F-4420-E67C-905AB70DB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A2D60-4BBF-4E9A-125E-07CE6E8AE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913A6-BB28-5B82-CF61-EAD2FD08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726AC-72A9-9BB1-182F-F34CE9E2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809E6-C0D5-C60C-2E4B-299DA783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5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D0C9-0289-7298-6F03-024687B6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2E1A0-2F32-E55A-DF12-49A2DE2EA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9BCB9-EE32-F50D-EC40-92BFA1D30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BCA24-59DA-EEAA-A949-089E46A7E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5FEFB-4157-F887-6970-5665023C0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43920-7CC9-DA5B-D575-8ACA5235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8BF6B-F469-DCF2-AB10-CA58C2F2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63B3F-6DC2-8251-8140-BC532219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5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6865-9691-9792-A67F-C3E0F2A8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DB6FE-0CE3-0921-1449-E6E2E2C2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D7185-A09D-02AB-E6AA-D0CB26B0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F6DA3-7F61-7F49-69C6-40243728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6BDDE-A857-139A-E321-51C8C7A5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73F24-1FAB-3D69-ED5E-DC753C10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202B-4D2B-CD79-0A63-1B20C637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20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632A-C83A-A89E-083B-5949EC0D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A6F4B-1F76-F61D-E998-6303F611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D95BB-761F-1AD9-3A61-8797646A2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DDEEF-AB5D-7990-DD42-65DEA2D9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8D84E-CFEB-9427-B5BC-0711B036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FF631-88AB-2BA1-8D23-D1205711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1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5D03A-ED03-A7A6-59B4-9952380A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DF6C9-AEF3-6444-74F5-04B6348A7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BC119-2651-90F4-1767-80B82C9D5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89E8F-EEA5-4A55-E553-286A704C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0AE40-26D1-9DF2-C55B-CA5F55B6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B392-FD57-4F7F-8827-1041420A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9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878B-D43E-2DCB-C963-1AA5EEEE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60024-C798-0315-4C8F-5DDF4C23C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B18CD-EBDE-BA9E-9809-D2352B5C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A0999-D20B-8336-0945-D8F3DD02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465F4-35A1-C88A-6BA7-662A23AE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9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CD07E-0099-C124-FC71-63C4264A4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208E0-FA1F-7ADF-A7BF-3E04CF73A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F0DE3-AAAA-77B0-6DD1-2BBFA79E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53EC5-EA28-50CE-917E-D1C99B48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EB305-7E80-D44F-F64B-E3AD7662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18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FD6FDB-284D-4034-A591-9665BBE0A1F4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9B36B4BD-3EC2-4941-880D-853FC168FA6D}"/>
              </a:ext>
            </a:extLst>
          </p:cNvPr>
          <p:cNvGrpSpPr/>
          <p:nvPr userDrawn="1"/>
        </p:nvGrpSpPr>
        <p:grpSpPr>
          <a:xfrm>
            <a:off x="457201" y="6127505"/>
            <a:ext cx="808930" cy="287451"/>
            <a:chOff x="497542" y="-650117"/>
            <a:chExt cx="1050759" cy="373384"/>
          </a:xfrm>
          <a:solidFill>
            <a:schemeClr val="accent2"/>
          </a:solidFill>
        </p:grpSpPr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7281450A-8254-4193-9BA9-2E4128CA0CDD}"/>
                </a:ext>
              </a:extLst>
            </p:cNvPr>
            <p:cNvSpPr/>
            <p:nvPr/>
          </p:nvSpPr>
          <p:spPr>
            <a:xfrm>
              <a:off x="497542" y="-650117"/>
              <a:ext cx="375677" cy="373384"/>
            </a:xfrm>
            <a:custGeom>
              <a:avLst/>
              <a:gdLst>
                <a:gd name="connsiteX0" fmla="*/ 187684 w 375677"/>
                <a:gd name="connsiteY0" fmla="*/ 231177 h 373384"/>
                <a:gd name="connsiteX1" fmla="*/ 231092 w 375677"/>
                <a:gd name="connsiteY1" fmla="*/ 370542 h 373384"/>
                <a:gd name="connsiteX2" fmla="*/ 370493 w 375677"/>
                <a:gd name="connsiteY2" fmla="*/ 144178 h 373384"/>
                <a:gd name="connsiteX3" fmla="*/ 311605 w 375677"/>
                <a:gd name="connsiteY3" fmla="*/ 46614 h 373384"/>
                <a:gd name="connsiteX4" fmla="*/ 187684 w 375677"/>
                <a:gd name="connsiteY4" fmla="*/ 231177 h 373384"/>
                <a:gd name="connsiteX5" fmla="*/ 45210 w 375677"/>
                <a:gd name="connsiteY5" fmla="*/ 172958 h 373384"/>
                <a:gd name="connsiteX6" fmla="*/ 220168 w 375677"/>
                <a:gd name="connsiteY6" fmla="*/ 2895 h 373384"/>
                <a:gd name="connsiteX7" fmla="*/ 2171 w 375677"/>
                <a:gd name="connsiteY7" fmla="*/ 155143 h 373384"/>
                <a:gd name="connsiteX8" fmla="*/ 0 w 375677"/>
                <a:gd name="connsiteY8" fmla="*/ 171653 h 373384"/>
                <a:gd name="connsiteX9" fmla="*/ 45210 w 375677"/>
                <a:gd name="connsiteY9" fmla="*/ 172958 h 373384"/>
                <a:gd name="connsiteX10" fmla="*/ 38426 w 375677"/>
                <a:gd name="connsiteY10" fmla="*/ 231699 h 373384"/>
                <a:gd name="connsiteX11" fmla="*/ 2513 w 375677"/>
                <a:gd name="connsiteY11" fmla="*/ 222274 h 373384"/>
                <a:gd name="connsiteX12" fmla="*/ 158628 w 375677"/>
                <a:gd name="connsiteY12" fmla="*/ 373384 h 373384"/>
                <a:gd name="connsiteX13" fmla="*/ 38426 w 375677"/>
                <a:gd name="connsiteY13" fmla="*/ 231699 h 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677" h="373384">
                  <a:moveTo>
                    <a:pt x="187684" y="231177"/>
                  </a:moveTo>
                  <a:cubicBezTo>
                    <a:pt x="185300" y="281280"/>
                    <a:pt x="200669" y="330620"/>
                    <a:pt x="231092" y="370542"/>
                  </a:cubicBezTo>
                  <a:cubicBezTo>
                    <a:pt x="332213" y="346456"/>
                    <a:pt x="394624" y="245109"/>
                    <a:pt x="370493" y="144178"/>
                  </a:cubicBezTo>
                  <a:cubicBezTo>
                    <a:pt x="361450" y="106358"/>
                    <a:pt x="340875" y="72270"/>
                    <a:pt x="311605" y="46614"/>
                  </a:cubicBezTo>
                  <a:cubicBezTo>
                    <a:pt x="239091" y="80307"/>
                    <a:pt x="191340" y="151425"/>
                    <a:pt x="187684" y="231177"/>
                  </a:cubicBezTo>
                  <a:close/>
                  <a:moveTo>
                    <a:pt x="45210" y="172958"/>
                  </a:moveTo>
                  <a:cubicBezTo>
                    <a:pt x="139146" y="164779"/>
                    <a:pt x="211451" y="91726"/>
                    <a:pt x="220168" y="2895"/>
                  </a:cubicBezTo>
                  <a:cubicBezTo>
                    <a:pt x="117849" y="-15148"/>
                    <a:pt x="20248" y="53016"/>
                    <a:pt x="2171" y="155143"/>
                  </a:cubicBezTo>
                  <a:cubicBezTo>
                    <a:pt x="1203" y="160612"/>
                    <a:pt x="479" y="166120"/>
                    <a:pt x="0" y="171653"/>
                  </a:cubicBezTo>
                  <a:cubicBezTo>
                    <a:pt x="14969" y="173829"/>
                    <a:pt x="30140" y="174267"/>
                    <a:pt x="45210" y="172958"/>
                  </a:cubicBezTo>
                  <a:close/>
                  <a:moveTo>
                    <a:pt x="38426" y="231699"/>
                  </a:moveTo>
                  <a:cubicBezTo>
                    <a:pt x="26753" y="227519"/>
                    <a:pt x="14736" y="224366"/>
                    <a:pt x="2513" y="222274"/>
                  </a:cubicBezTo>
                  <a:cubicBezTo>
                    <a:pt x="17141" y="300613"/>
                    <a:pt x="79730" y="361196"/>
                    <a:pt x="158628" y="373384"/>
                  </a:cubicBezTo>
                  <a:cubicBezTo>
                    <a:pt x="156609" y="315484"/>
                    <a:pt x="109597" y="257162"/>
                    <a:pt x="38426" y="231699"/>
                  </a:cubicBezTo>
                  <a:close/>
                </a:path>
              </a:pathLst>
            </a:custGeom>
            <a:gradFill>
              <a:gsLst>
                <a:gs pos="0">
                  <a:srgbClr val="D1A33C"/>
                </a:gs>
                <a:gs pos="100000">
                  <a:srgbClr val="F2D713"/>
                </a:gs>
              </a:gsLst>
              <a:lin ang="2700000" scaled="0"/>
            </a:gra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492B512B-00DF-4C22-8B20-45FAB1E0AD89}"/>
                </a:ext>
              </a:extLst>
            </p:cNvPr>
            <p:cNvSpPr/>
            <p:nvPr/>
          </p:nvSpPr>
          <p:spPr>
            <a:xfrm>
              <a:off x="1494056" y="-622846"/>
              <a:ext cx="54245" cy="312921"/>
            </a:xfrm>
            <a:custGeom>
              <a:avLst/>
              <a:gdLst>
                <a:gd name="connsiteX0" fmla="*/ 0 w 54246"/>
                <a:gd name="connsiteY0" fmla="*/ 0 h 312921"/>
                <a:gd name="connsiteX1" fmla="*/ 54247 w 54246"/>
                <a:gd name="connsiteY1" fmla="*/ 0 h 312921"/>
                <a:gd name="connsiteX2" fmla="*/ 54247 w 54246"/>
                <a:gd name="connsiteY2" fmla="*/ 312922 h 312921"/>
                <a:gd name="connsiteX3" fmla="*/ 0 w 54246"/>
                <a:gd name="connsiteY3" fmla="*/ 312922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46" h="312921">
                  <a:moveTo>
                    <a:pt x="0" y="0"/>
                  </a:moveTo>
                  <a:lnTo>
                    <a:pt x="54247" y="0"/>
                  </a:lnTo>
                  <a:lnTo>
                    <a:pt x="54247" y="312922"/>
                  </a:lnTo>
                  <a:lnTo>
                    <a:pt x="0" y="312922"/>
                  </a:lnTo>
                  <a:close/>
                </a:path>
              </a:pathLst>
            </a:custGeom>
            <a:solidFill>
              <a:schemeClr val="tx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38943F41-85E4-441B-AAD1-31D2105EE508}"/>
                </a:ext>
              </a:extLst>
            </p:cNvPr>
            <p:cNvSpPr/>
            <p:nvPr/>
          </p:nvSpPr>
          <p:spPr>
            <a:xfrm>
              <a:off x="918596" y="-622860"/>
              <a:ext cx="543801" cy="312936"/>
            </a:xfrm>
            <a:custGeom>
              <a:avLst/>
              <a:gdLst>
                <a:gd name="connsiteX0" fmla="*/ 494756 w 543801"/>
                <a:gd name="connsiteY0" fmla="*/ 146122 h 312936"/>
                <a:gd name="connsiteX1" fmla="*/ 525351 w 543801"/>
                <a:gd name="connsiteY1" fmla="*/ 84147 h 312936"/>
                <a:gd name="connsiteX2" fmla="*/ 462882 w 543801"/>
                <a:gd name="connsiteY2" fmla="*/ 4191 h 312936"/>
                <a:gd name="connsiteX3" fmla="*/ 418660 w 543801"/>
                <a:gd name="connsiteY3" fmla="*/ 15 h 312936"/>
                <a:gd name="connsiteX4" fmla="*/ 319552 w 543801"/>
                <a:gd name="connsiteY4" fmla="*/ 15 h 312936"/>
                <a:gd name="connsiteX5" fmla="*/ 319552 w 543801"/>
                <a:gd name="connsiteY5" fmla="*/ 132056 h 312936"/>
                <a:gd name="connsiteX6" fmla="*/ 239649 w 543801"/>
                <a:gd name="connsiteY6" fmla="*/ 151299 h 312936"/>
                <a:gd name="connsiteX7" fmla="*/ 177732 w 543801"/>
                <a:gd name="connsiteY7" fmla="*/ 0 h 312936"/>
                <a:gd name="connsiteX8" fmla="*/ 127946 w 543801"/>
                <a:gd name="connsiteY8" fmla="*/ 0 h 312936"/>
                <a:gd name="connsiteX9" fmla="*/ 0 w 543801"/>
                <a:gd name="connsiteY9" fmla="*/ 312936 h 312936"/>
                <a:gd name="connsiteX10" fmla="*/ 52198 w 543801"/>
                <a:gd name="connsiteY10" fmla="*/ 312936 h 312936"/>
                <a:gd name="connsiteX11" fmla="*/ 207252 w 543801"/>
                <a:gd name="connsiteY11" fmla="*/ 208532 h 312936"/>
                <a:gd name="connsiteX12" fmla="*/ 246477 w 543801"/>
                <a:gd name="connsiteY12" fmla="*/ 312936 h 312936"/>
                <a:gd name="connsiteX13" fmla="*/ 305678 w 543801"/>
                <a:gd name="connsiteY13" fmla="*/ 312936 h 312936"/>
                <a:gd name="connsiteX14" fmla="*/ 256124 w 543801"/>
                <a:gd name="connsiteY14" fmla="*/ 191697 h 312936"/>
                <a:gd name="connsiteX15" fmla="*/ 319552 w 543801"/>
                <a:gd name="connsiteY15" fmla="*/ 178139 h 312936"/>
                <a:gd name="connsiteX16" fmla="*/ 319552 w 543801"/>
                <a:gd name="connsiteY16" fmla="*/ 312893 h 312936"/>
                <a:gd name="connsiteX17" fmla="*/ 346486 w 543801"/>
                <a:gd name="connsiteY17" fmla="*/ 312893 h 312936"/>
                <a:gd name="connsiteX18" fmla="*/ 346486 w 543801"/>
                <a:gd name="connsiteY18" fmla="*/ 312893 h 312936"/>
                <a:gd name="connsiteX19" fmla="*/ 441091 w 543801"/>
                <a:gd name="connsiteY19" fmla="*/ 312893 h 312936"/>
                <a:gd name="connsiteX20" fmla="*/ 543802 w 543801"/>
                <a:gd name="connsiteY20" fmla="*/ 221539 h 312936"/>
                <a:gd name="connsiteX21" fmla="*/ 494756 w 543801"/>
                <a:gd name="connsiteY21" fmla="*/ 146122 h 312936"/>
                <a:gd name="connsiteX22" fmla="*/ 82546 w 543801"/>
                <a:gd name="connsiteY22" fmla="*/ 241826 h 312936"/>
                <a:gd name="connsiteX23" fmla="*/ 152280 w 543801"/>
                <a:gd name="connsiteY23" fmla="*/ 61874 h 312936"/>
                <a:gd name="connsiteX24" fmla="*/ 192797 w 543801"/>
                <a:gd name="connsiteY24" fmla="*/ 169772 h 312936"/>
                <a:gd name="connsiteX25" fmla="*/ 82546 w 543801"/>
                <a:gd name="connsiteY25" fmla="*/ 241855 h 312936"/>
                <a:gd name="connsiteX26" fmla="*/ 373232 w 543801"/>
                <a:gd name="connsiteY26" fmla="*/ 49128 h 312936"/>
                <a:gd name="connsiteX27" fmla="*/ 419270 w 543801"/>
                <a:gd name="connsiteY27" fmla="*/ 49128 h 312936"/>
                <a:gd name="connsiteX28" fmla="*/ 444650 w 543801"/>
                <a:gd name="connsiteY28" fmla="*/ 52289 h 312936"/>
                <a:gd name="connsiteX29" fmla="*/ 471686 w 543801"/>
                <a:gd name="connsiteY29" fmla="*/ 92339 h 312936"/>
                <a:gd name="connsiteX30" fmla="*/ 446059 w 543801"/>
                <a:gd name="connsiteY30" fmla="*/ 130809 h 312936"/>
                <a:gd name="connsiteX31" fmla="*/ 395720 w 543801"/>
                <a:gd name="connsiteY31" fmla="*/ 126865 h 312936"/>
                <a:gd name="connsiteX32" fmla="*/ 373232 w 543801"/>
                <a:gd name="connsiteY32" fmla="*/ 127213 h 312936"/>
                <a:gd name="connsiteX33" fmla="*/ 437793 w 543801"/>
                <a:gd name="connsiteY33" fmla="*/ 263736 h 312936"/>
                <a:gd name="connsiteX34" fmla="*/ 373232 w 543801"/>
                <a:gd name="connsiteY34" fmla="*/ 263736 h 312936"/>
                <a:gd name="connsiteX35" fmla="*/ 373232 w 543801"/>
                <a:gd name="connsiteY35" fmla="*/ 173833 h 312936"/>
                <a:gd name="connsiteX36" fmla="*/ 397202 w 543801"/>
                <a:gd name="connsiteY36" fmla="*/ 173398 h 312936"/>
                <a:gd name="connsiteX37" fmla="*/ 490078 w 543801"/>
                <a:gd name="connsiteY37" fmla="*/ 221568 h 312936"/>
                <a:gd name="connsiteX38" fmla="*/ 437793 w 543801"/>
                <a:gd name="connsiteY38" fmla="*/ 263779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43801" h="312936">
                  <a:moveTo>
                    <a:pt x="494756" y="146122"/>
                  </a:moveTo>
                  <a:cubicBezTo>
                    <a:pt x="517361" y="129620"/>
                    <a:pt x="525351" y="104955"/>
                    <a:pt x="525351" y="84147"/>
                  </a:cubicBezTo>
                  <a:cubicBezTo>
                    <a:pt x="525351" y="44270"/>
                    <a:pt x="500654" y="14385"/>
                    <a:pt x="462882" y="4191"/>
                  </a:cubicBezTo>
                  <a:cubicBezTo>
                    <a:pt x="453090" y="1566"/>
                    <a:pt x="437183" y="15"/>
                    <a:pt x="418660" y="15"/>
                  </a:cubicBezTo>
                  <a:lnTo>
                    <a:pt x="319552" y="15"/>
                  </a:lnTo>
                  <a:lnTo>
                    <a:pt x="319552" y="132056"/>
                  </a:lnTo>
                  <a:cubicBezTo>
                    <a:pt x="292413" y="136165"/>
                    <a:pt x="265679" y="142603"/>
                    <a:pt x="239649" y="151299"/>
                  </a:cubicBezTo>
                  <a:lnTo>
                    <a:pt x="177732" y="0"/>
                  </a:lnTo>
                  <a:lnTo>
                    <a:pt x="127946" y="0"/>
                  </a:lnTo>
                  <a:lnTo>
                    <a:pt x="0" y="312936"/>
                  </a:lnTo>
                  <a:lnTo>
                    <a:pt x="52198" y="312936"/>
                  </a:lnTo>
                  <a:cubicBezTo>
                    <a:pt x="97321" y="265331"/>
                    <a:pt x="151175" y="231168"/>
                    <a:pt x="207252" y="208532"/>
                  </a:cubicBezTo>
                  <a:lnTo>
                    <a:pt x="246477" y="312936"/>
                  </a:lnTo>
                  <a:lnTo>
                    <a:pt x="305678" y="312936"/>
                  </a:lnTo>
                  <a:lnTo>
                    <a:pt x="256124" y="191697"/>
                  </a:lnTo>
                  <a:cubicBezTo>
                    <a:pt x="276944" y="185787"/>
                    <a:pt x="298133" y="181258"/>
                    <a:pt x="319552" y="178139"/>
                  </a:cubicBezTo>
                  <a:lnTo>
                    <a:pt x="319552" y="312893"/>
                  </a:lnTo>
                  <a:lnTo>
                    <a:pt x="346486" y="312893"/>
                  </a:lnTo>
                  <a:lnTo>
                    <a:pt x="346486" y="312893"/>
                  </a:lnTo>
                  <a:lnTo>
                    <a:pt x="441091" y="312893"/>
                  </a:lnTo>
                  <a:cubicBezTo>
                    <a:pt x="507918" y="312893"/>
                    <a:pt x="543802" y="273741"/>
                    <a:pt x="543802" y="221539"/>
                  </a:cubicBezTo>
                  <a:cubicBezTo>
                    <a:pt x="543802" y="190015"/>
                    <a:pt x="528097" y="163117"/>
                    <a:pt x="494756" y="146122"/>
                  </a:cubicBezTo>
                  <a:close/>
                  <a:moveTo>
                    <a:pt x="82546" y="241826"/>
                  </a:moveTo>
                  <a:lnTo>
                    <a:pt x="152280" y="61874"/>
                  </a:lnTo>
                  <a:lnTo>
                    <a:pt x="192797" y="169772"/>
                  </a:lnTo>
                  <a:cubicBezTo>
                    <a:pt x="150798" y="188986"/>
                    <a:pt x="113432" y="213608"/>
                    <a:pt x="82546" y="241855"/>
                  </a:cubicBezTo>
                  <a:close/>
                  <a:moveTo>
                    <a:pt x="373232" y="49128"/>
                  </a:moveTo>
                  <a:lnTo>
                    <a:pt x="419270" y="49128"/>
                  </a:lnTo>
                  <a:cubicBezTo>
                    <a:pt x="429788" y="49128"/>
                    <a:pt x="438606" y="50317"/>
                    <a:pt x="444650" y="52289"/>
                  </a:cubicBezTo>
                  <a:cubicBezTo>
                    <a:pt x="462083" y="57988"/>
                    <a:pt x="471686" y="71140"/>
                    <a:pt x="471686" y="92339"/>
                  </a:cubicBezTo>
                  <a:cubicBezTo>
                    <a:pt x="471686" y="111973"/>
                    <a:pt x="461778" y="124879"/>
                    <a:pt x="446059" y="130809"/>
                  </a:cubicBezTo>
                  <a:cubicBezTo>
                    <a:pt x="429419" y="128095"/>
                    <a:pt x="412581" y="126776"/>
                    <a:pt x="395720" y="126865"/>
                  </a:cubicBezTo>
                  <a:cubicBezTo>
                    <a:pt x="388718" y="126865"/>
                    <a:pt x="381018" y="126967"/>
                    <a:pt x="373232" y="127213"/>
                  </a:cubicBezTo>
                  <a:close/>
                  <a:moveTo>
                    <a:pt x="437793" y="263736"/>
                  </a:moveTo>
                  <a:lnTo>
                    <a:pt x="373232" y="263736"/>
                  </a:lnTo>
                  <a:lnTo>
                    <a:pt x="373232" y="173833"/>
                  </a:lnTo>
                  <a:cubicBezTo>
                    <a:pt x="381411" y="173485"/>
                    <a:pt x="389445" y="173311"/>
                    <a:pt x="397202" y="173398"/>
                  </a:cubicBezTo>
                  <a:cubicBezTo>
                    <a:pt x="455923" y="174152"/>
                    <a:pt x="490078" y="191219"/>
                    <a:pt x="490078" y="221568"/>
                  </a:cubicBezTo>
                  <a:cubicBezTo>
                    <a:pt x="490078" y="248887"/>
                    <a:pt x="465613" y="263779"/>
                    <a:pt x="437793" y="263779"/>
                  </a:cubicBezTo>
                  <a:close/>
                </a:path>
              </a:pathLst>
            </a:custGeom>
            <a:solidFill>
              <a:schemeClr val="tx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973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290AF1-4539-0867-BA38-CC42C193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A7B06-634F-9822-5D8D-DE1CFC6F4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80B70-71CF-3A13-FD65-2DFBA7295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92A23-8EB8-4772-A044-B18C1EE87C7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17425-33B9-19D3-888E-98C5E20F3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6C8D0-D071-3EFB-44F1-59E2C9320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6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6F5A3D-9359-DBA2-34CE-02CE47090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343848"/>
              </p:ext>
            </p:extLst>
          </p:nvPr>
        </p:nvGraphicFramePr>
        <p:xfrm>
          <a:off x="1572768" y="1221308"/>
          <a:ext cx="4800600" cy="1133692"/>
        </p:xfrm>
        <a:graphic>
          <a:graphicData uri="http://schemas.openxmlformats.org/drawingml/2006/table">
            <a:tbl>
              <a:tblPr/>
              <a:tblGrid>
                <a:gridCol w="1618523">
                  <a:extLst>
                    <a:ext uri="{9D8B030D-6E8A-4147-A177-3AD203B41FA5}">
                      <a16:colId xmlns:a16="http://schemas.microsoft.com/office/drawing/2014/main" val="461437207"/>
                    </a:ext>
                  </a:extLst>
                </a:gridCol>
                <a:gridCol w="3182077">
                  <a:extLst>
                    <a:ext uri="{9D8B030D-6E8A-4147-A177-3AD203B41FA5}">
                      <a16:colId xmlns:a16="http://schemas.microsoft.com/office/drawing/2014/main" val="3937272017"/>
                    </a:ext>
                  </a:extLst>
                </a:gridCol>
              </a:tblGrid>
              <a:tr h="310732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US" sz="1400" b="1" i="0">
                          <a:solidFill>
                            <a:srgbClr val="010101"/>
                          </a:solidFill>
                          <a:effectLst/>
                          <a:latin typeface="Arial" panose="020B0604020202020204" pitchFamily="34" charset="0"/>
                        </a:rPr>
                        <a:t>Intern Details</a:t>
                      </a:r>
                      <a:r>
                        <a:rPr lang="en-US" sz="1400" b="0" i="0">
                          <a:solidFill>
                            <a:srgbClr val="01010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10101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12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221300"/>
                  </a:ext>
                </a:extLst>
              </a:tr>
              <a:tr h="24780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010101"/>
                          </a:solidFill>
                          <a:effectLst/>
                          <a:latin typeface="+mn-lt"/>
                        </a:rPr>
                        <a:t>Name​</a:t>
                      </a:r>
                      <a:endParaRPr lang="en-US" b="1" i="0">
                        <a:solidFill>
                          <a:srgbClr val="01010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 kern="1200">
                          <a:solidFill>
                            <a:srgbClr val="01010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be updated later</a:t>
                      </a:r>
                    </a:p>
                  </a:txBody>
                  <a:tcPr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489143"/>
                  </a:ext>
                </a:extLst>
              </a:tr>
              <a:tr h="24780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010101"/>
                          </a:solidFill>
                          <a:effectLst/>
                          <a:latin typeface="+mn-lt"/>
                        </a:rPr>
                        <a:t>Function​</a:t>
                      </a:r>
                      <a:endParaRPr lang="en-US" b="1" i="0">
                        <a:solidFill>
                          <a:srgbClr val="01010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010101"/>
                          </a:solidFill>
                          <a:effectLst/>
                          <a:latin typeface="+mn-lt"/>
                        </a:rPr>
                        <a:t>Anaplan COE</a:t>
                      </a:r>
                    </a:p>
                  </a:txBody>
                  <a:tcPr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089613"/>
                  </a:ext>
                </a:extLst>
              </a:tr>
              <a:tr h="24780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010101"/>
                          </a:solidFill>
                          <a:effectLst/>
                          <a:latin typeface="+mn-lt"/>
                        </a:rPr>
                        <a:t>Team/ Tower​</a:t>
                      </a:r>
                      <a:endParaRPr lang="en-US" b="1" i="0">
                        <a:solidFill>
                          <a:srgbClr val="01010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010101"/>
                          </a:solidFill>
                          <a:effectLst/>
                          <a:latin typeface="+mn-lt"/>
                        </a:rPr>
                        <a:t>GBS Tech</a:t>
                      </a:r>
                    </a:p>
                  </a:txBody>
                  <a:tcPr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264176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3A796E97-4583-00D4-4F33-B00430CE2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95" y="4478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6B8CB-8AB8-4905-E33B-D05CC7B3F932}"/>
              </a:ext>
            </a:extLst>
          </p:cNvPr>
          <p:cNvSpPr txBox="1"/>
          <p:nvPr/>
        </p:nvSpPr>
        <p:spPr>
          <a:xfrm>
            <a:off x="248649" y="305618"/>
            <a:ext cx="11185248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br>
              <a:rPr lang="en-US" sz="2400">
                <a:latin typeface="Avantt"/>
                <a:cs typeface="Avantt" pitchFamily="2" charset="77"/>
              </a:rPr>
            </a:br>
            <a:r>
              <a:rPr lang="en-US" sz="2400" b="1">
                <a:latin typeface="Arial"/>
                <a:cs typeface="Arial"/>
              </a:rPr>
              <a:t>Internship Project Charter</a:t>
            </a:r>
            <a:endParaRPr lang="en-US" sz="2400">
              <a:latin typeface="Arial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15F470-5F71-CA26-B129-13D21532B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481690"/>
              </p:ext>
            </p:extLst>
          </p:nvPr>
        </p:nvGraphicFramePr>
        <p:xfrm>
          <a:off x="1572768" y="2505457"/>
          <a:ext cx="9884664" cy="4078277"/>
        </p:xfrm>
        <a:graphic>
          <a:graphicData uri="http://schemas.openxmlformats.org/drawingml/2006/table">
            <a:tbl>
              <a:tblPr/>
              <a:tblGrid>
                <a:gridCol w="1435510">
                  <a:extLst>
                    <a:ext uri="{9D8B030D-6E8A-4147-A177-3AD203B41FA5}">
                      <a16:colId xmlns:a16="http://schemas.microsoft.com/office/drawing/2014/main" val="30444158"/>
                    </a:ext>
                  </a:extLst>
                </a:gridCol>
                <a:gridCol w="2077661">
                  <a:extLst>
                    <a:ext uri="{9D8B030D-6E8A-4147-A177-3AD203B41FA5}">
                      <a16:colId xmlns:a16="http://schemas.microsoft.com/office/drawing/2014/main" val="2820311181"/>
                    </a:ext>
                  </a:extLst>
                </a:gridCol>
                <a:gridCol w="3797649">
                  <a:extLst>
                    <a:ext uri="{9D8B030D-6E8A-4147-A177-3AD203B41FA5}">
                      <a16:colId xmlns:a16="http://schemas.microsoft.com/office/drawing/2014/main" val="2097145828"/>
                    </a:ext>
                  </a:extLst>
                </a:gridCol>
                <a:gridCol w="998802">
                  <a:extLst>
                    <a:ext uri="{9D8B030D-6E8A-4147-A177-3AD203B41FA5}">
                      <a16:colId xmlns:a16="http://schemas.microsoft.com/office/drawing/2014/main" val="3158405768"/>
                    </a:ext>
                  </a:extLst>
                </a:gridCol>
                <a:gridCol w="1575042">
                  <a:extLst>
                    <a:ext uri="{9D8B030D-6E8A-4147-A177-3AD203B41FA5}">
                      <a16:colId xmlns:a16="http://schemas.microsoft.com/office/drawing/2014/main" val="461851115"/>
                    </a:ext>
                  </a:extLst>
                </a:gridCol>
              </a:tblGrid>
              <a:tr h="368593">
                <a:tc gridSpan="5"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10101"/>
                          </a:solidFill>
                          <a:effectLst/>
                          <a:latin typeface="Calibri" panose="020F0502020204030204" pitchFamily="34" charset="0"/>
                        </a:rPr>
                        <a:t>Project Details​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12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648315"/>
                  </a:ext>
                </a:extLst>
              </a:tr>
              <a:tr h="21999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kern="1200">
                          <a:solidFill>
                            <a:srgbClr val="01010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 Topic​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Functional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063806"/>
                  </a:ext>
                </a:extLst>
              </a:tr>
              <a:tr h="2959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kern="1200">
                          <a:solidFill>
                            <a:srgbClr val="01010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 Description​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Designing, building, and maintaining scalable financial and operational planning models to automate budgeting, forecasting, and reporting processes. </a:t>
                      </a:r>
                      <a:endParaRPr lang="en-US" sz="1000" b="0" i="0" u="none" strike="noStrike">
                        <a:solidFill>
                          <a:srgbClr val="010101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01717"/>
                  </a:ext>
                </a:extLst>
              </a:tr>
              <a:tr h="232565">
                <a:tc rowSpan="5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kern="1200">
                          <a:solidFill>
                            <a:srgbClr val="01010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 KPI​s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Focus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1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Planned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1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KPI %</a:t>
                      </a:r>
                      <a: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en-US" sz="1000" b="1" i="0" u="none" strike="noStrike">
                        <a:solidFill>
                          <a:srgbClr val="010101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1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 Timeline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562608"/>
                  </a:ext>
                </a:extLst>
              </a:tr>
              <a:tr h="8164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Learning &amp; Growth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. Excel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- Anaplan specific functions</a:t>
                      </a:r>
                      <a:b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2.</a:t>
                      </a:r>
                      <a:r>
                        <a:rPr lang="en-US" sz="1000" b="1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 L1</a:t>
                      </a:r>
                      <a: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 &amp; </a:t>
                      </a:r>
                      <a:r>
                        <a:rPr lang="en-US" sz="1000" b="1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L2</a:t>
                      </a:r>
                      <a: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 Anaplan Model Building Certifications</a:t>
                      </a:r>
                      <a:b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3. </a:t>
                      </a: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Agile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or sprint-based working methods </a:t>
                      </a:r>
                      <a:b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4. Udemy - functional trainings</a:t>
                      </a:r>
                      <a:b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>
                          <a:solidFill>
                            <a:srgbClr val="010101"/>
                          </a:solidFill>
                          <a:effectLst/>
                          <a:latin typeface="Calibri"/>
                        </a:rPr>
                        <a:t>5. Anaplan Bootcamp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Month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260997"/>
                  </a:ext>
                </a:extLst>
              </a:tr>
              <a:tr h="4971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Project Delivery (Zone)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 Assist in building and maintaining Anaplan models.</a:t>
                      </a:r>
                      <a:b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 Support regular monthly/quarterly planning cycles.</a:t>
                      </a:r>
                      <a:b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 Perform ad-hoc analysis and generate reports/dashboards.</a:t>
                      </a:r>
                      <a:b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 Participate in UAT and documentation of models and processes.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40%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130432"/>
                  </a:ext>
                </a:extLst>
              </a:tr>
              <a:tr h="4399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Ownership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 Apply best practices in model NUX reports.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 Help integrate data across models.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 CloudWorks Integrations - Scope Identification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TBD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41825"/>
                  </a:ext>
                </a:extLst>
              </a:tr>
              <a:tr h="2262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Communication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TBD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411027"/>
                  </a:ext>
                </a:extLst>
              </a:tr>
              <a:tr h="51448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kern="1200">
                          <a:solidFill>
                            <a:srgbClr val="01010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This project involves designing, building, and maintaining scalable financial and operational planning models to automate budgeting, forecasting, and reporting processes.  Collaboration with cross-functional teams to gather business requirements and translate them into efficient Anaplan solutions, ensuring data accuracy and integrity through seamless integration with source systems.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1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73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2F9A6AEA7BC2448A25CB7E94C3D94D" ma:contentTypeVersion="3" ma:contentTypeDescription="Create a new document." ma:contentTypeScope="" ma:versionID="04439ffb3f640a495c88408ab1285c0c">
  <xsd:schema xmlns:xsd="http://www.w3.org/2001/XMLSchema" xmlns:xs="http://www.w3.org/2001/XMLSchema" xmlns:p="http://schemas.microsoft.com/office/2006/metadata/properties" xmlns:ns2="1357138e-ea3f-4e42-a0f3-5a1df8960526" targetNamespace="http://schemas.microsoft.com/office/2006/metadata/properties" ma:root="true" ma:fieldsID="a11b759453cb80887098a8f26b6922b9" ns2:_="">
    <xsd:import namespace="1357138e-ea3f-4e42-a0f3-5a1df89605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7138e-ea3f-4e42-a0f3-5a1df89605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A30E72-FC99-4C5B-88A8-E83B163A3FB3}">
  <ds:schemaRefs>
    <ds:schemaRef ds:uri="1357138e-ea3f-4e42-a0f3-5a1df89605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19E0DB0-C0D8-402D-ADA7-164F5CF49018}">
  <ds:schemaRefs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357138e-ea3f-4e42-a0f3-5a1df8960526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962973D-DAE1-43E3-ADE0-29DB02B984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Avantt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Rajgopal, Vaishnavi</dc:creator>
  <cp:lastModifiedBy>Deepesh Kumar Singh</cp:lastModifiedBy>
  <cp:revision>1</cp:revision>
  <dcterms:created xsi:type="dcterms:W3CDTF">2024-11-29T10:59:05Z</dcterms:created>
  <dcterms:modified xsi:type="dcterms:W3CDTF">2025-10-24T11:53:13Z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Enabled">
    <vt:lpwstr>true</vt:lpwstr>
  </property>
  <property fmtid="{D5CDD505-2E9C-101B-9397-08002B2CF9AE}" pid="3" name="MSIP_Label_68104b14-b53d-46de-9ae8-975cc0e84815_SetDate">
    <vt:lpwstr>2024-11-29T11:36:40Z</vt:lpwstr>
  </property>
  <property fmtid="{D5CDD505-2E9C-101B-9397-08002B2CF9AE}" pid="4" name="MSIP_Label_68104b14-b53d-46de-9ae8-975cc0e84815_Method">
    <vt:lpwstr>Standard</vt:lpwstr>
  </property>
  <property fmtid="{D5CDD505-2E9C-101B-9397-08002B2CF9AE}" pid="5" name="MSIP_Label_68104b14-b53d-46de-9ae8-975cc0e84815_Name">
    <vt:lpwstr>ABI_MIP_InternalUseOnly</vt:lpwstr>
  </property>
  <property fmtid="{D5CDD505-2E9C-101B-9397-08002B2CF9AE}" pid="6" name="MSIP_Label_68104b14-b53d-46de-9ae8-975cc0e84815_SiteId">
    <vt:lpwstr>cef04b19-7776-4a94-b89b-375c77a8f936</vt:lpwstr>
  </property>
  <property fmtid="{D5CDD505-2E9C-101B-9397-08002B2CF9AE}" pid="7" name="MSIP_Label_68104b14-b53d-46de-9ae8-975cc0e84815_ActionId">
    <vt:lpwstr>b8ab2496-1e58-4d7d-8e87-c4969cfa77ff</vt:lpwstr>
  </property>
  <property fmtid="{D5CDD505-2E9C-101B-9397-08002B2CF9AE}" pid="8" name="MSIP_Label_68104b14-b53d-46de-9ae8-975cc0e84815_ContentBits">
    <vt:lpwstr>0</vt:lpwstr>
  </property>
  <property fmtid="{D5CDD505-2E9C-101B-9397-08002B2CF9AE}" pid="9" name="ContentTypeId">
    <vt:lpwstr>0x0101007E2F9A6AEA7BC2448A25CB7E94C3D94D</vt:lpwstr>
  </property>
</Properties>
</file>