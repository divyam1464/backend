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543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5C8B48-02E7-71AB-9702-3E0C3AE58E3B}" name="Rajgopal, Vaishnavi" initials="" userId="S::Vaishnavi.Rajgopal@AB-inbev.com::9f1f9042-0cba-43ef-8458-4ec30c232da6" providerId="AD"/>
  <p188:author id="{BDE0EF57-8683-A1FA-0D1E-DFE6599254AD}" name="Kadam, Abhijeet" initials="KA" userId="S::abhijeet.kadam@ab-inbev.com::ef3607bc-8f34-40d3-b402-eac4684c4b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ry Veena" userId="48a9f615-2fdf-475e-b630-d89ed5fba1b4" providerId="ADAL" clId="{C50A0A4B-0048-4E7C-A36B-814426DB7AAB}"/>
    <pc:docChg chg="undo custSel modSld">
      <pc:chgData name="Poojary Veena" userId="48a9f615-2fdf-475e-b630-d89ed5fba1b4" providerId="ADAL" clId="{C50A0A4B-0048-4E7C-A36B-814426DB7AAB}" dt="2025-10-15T11:22:33.712" v="16" actId="20577"/>
      <pc:docMkLst>
        <pc:docMk/>
      </pc:docMkLst>
      <pc:sldChg chg="modSp mod">
        <pc:chgData name="Poojary Veena" userId="48a9f615-2fdf-475e-b630-d89ed5fba1b4" providerId="ADAL" clId="{C50A0A4B-0048-4E7C-A36B-814426DB7AAB}" dt="2025-10-15T11:22:33.712" v="16" actId="20577"/>
        <pc:sldMkLst>
          <pc:docMk/>
          <pc:sldMk cId="2438874121" sldId="2147475434"/>
        </pc:sldMkLst>
        <pc:graphicFrameChg chg="modGraphic">
          <ac:chgData name="Poojary Veena" userId="48a9f615-2fdf-475e-b630-d89ed5fba1b4" providerId="ADAL" clId="{C50A0A4B-0048-4E7C-A36B-814426DB7AAB}" dt="2025-10-15T11:22:33.712" v="16" actId="20577"/>
          <ac:graphicFrameMkLst>
            <pc:docMk/>
            <pc:sldMk cId="2438874121" sldId="2147475434"/>
            <ac:graphicFrameMk id="9" creationId="{25D58189-E965-DC89-AE62-EB4C6F644AC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F22F5-5E70-47A2-A1CC-FEACAB1E53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89AB3-8303-4C48-BF92-C2B5695F1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4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8975A-C83C-4B4B-A264-2AFD70F78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61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A0FF-3E25-8181-B633-4940BF451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92A68-C124-6A98-8FD7-CBD6DF056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9793D-4B10-3171-52F1-07760639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97C5A-3C64-40EE-4148-F2D90DC3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ECA0-82D2-BC92-B86B-A439639C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5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99B2-8769-5917-9232-29D2553E5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70F8-3BF5-FE14-4A3F-E3CA8DCBC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B1528-7937-1A49-5D2E-8289F8466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583C6-F37E-9A30-4C59-BD3D1470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5715C-5A99-EC65-A517-452E1067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2B8C-83D4-1C08-7664-8489C978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EABF-F3E5-1752-C084-A4CF60CF5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6D9E2-B6FF-1821-4AA1-4A8D69C5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BE016-F5DF-6D9C-8141-CA1A96F0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7BEFB-379E-DD63-E498-57185E8A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5175-BB7F-5669-018F-6637FEA0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8269F-E39F-4420-E67C-905AB70DB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A2D60-4BBF-4E9A-125E-07CE6E8AE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913A6-BB28-5B82-CF61-EAD2FD08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726AC-72A9-9BB1-182F-F34CE9E2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809E6-C0D5-C60C-2E4B-299DA783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5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D0C9-0289-7298-6F03-024687B6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2E1A0-2F32-E55A-DF12-49A2DE2EA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9BCB9-EE32-F50D-EC40-92BFA1D30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BCA24-59DA-EEAA-A949-089E46A7E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5FEFB-4157-F887-6970-5665023C0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43920-7CC9-DA5B-D575-8ACA5235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8BF6B-F469-DCF2-AB10-CA58C2F2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63B3F-6DC2-8251-8140-BC532219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5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6865-9691-9792-A67F-C3E0F2A8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DB6FE-0CE3-0921-1449-E6E2E2C2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D7185-A09D-02AB-E6AA-D0CB26B0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F6DA3-7F61-7F49-69C6-40243728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6BDDE-A857-139A-E321-51C8C7A5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73F24-1FAB-3D69-ED5E-DC753C10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202B-4D2B-CD79-0A63-1B20C637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2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632A-C83A-A89E-083B-5949EC0D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A6F4B-1F76-F61D-E998-6303F611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D95BB-761F-1AD9-3A61-8797646A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DDEEF-AB5D-7990-DD42-65DEA2D9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8D84E-CFEB-9427-B5BC-0711B036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FF631-88AB-2BA1-8D23-D1205711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1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D03A-ED03-A7A6-59B4-9952380A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DF6C9-AEF3-6444-74F5-04B6348A7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BC119-2651-90F4-1767-80B82C9D5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89E8F-EEA5-4A55-E553-286A704C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0AE40-26D1-9DF2-C55B-CA5F55B6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B392-FD57-4F7F-8827-1041420A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9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878B-D43E-2DCB-C963-1AA5EEEE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60024-C798-0315-4C8F-5DDF4C23C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B18CD-EBDE-BA9E-9809-D2352B5C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A0999-D20B-8336-0945-D8F3DD02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465F4-35A1-C88A-6BA7-662A23AE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9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CD07E-0099-C124-FC71-63C4264A4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208E0-FA1F-7ADF-A7BF-3E04CF73A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0DE3-AAAA-77B0-6DD1-2BBFA79E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53EC5-EA28-50CE-917E-D1C99B48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EB305-7E80-D44F-F64B-E3AD7662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18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FD6FDB-284D-4034-A591-9665BBE0A1F4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9B36B4BD-3EC2-4941-880D-853FC168FA6D}"/>
              </a:ext>
            </a:extLst>
          </p:cNvPr>
          <p:cNvGrpSpPr/>
          <p:nvPr userDrawn="1"/>
        </p:nvGrpSpPr>
        <p:grpSpPr>
          <a:xfrm>
            <a:off x="457201" y="6127505"/>
            <a:ext cx="808930" cy="287451"/>
            <a:chOff x="497542" y="-650117"/>
            <a:chExt cx="1050759" cy="373384"/>
          </a:xfrm>
          <a:solidFill>
            <a:schemeClr val="accent2"/>
          </a:solidFill>
        </p:grpSpPr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7281450A-8254-4193-9BA9-2E4128CA0CDD}"/>
                </a:ext>
              </a:extLst>
            </p:cNvPr>
            <p:cNvSpPr/>
            <p:nvPr/>
          </p:nvSpPr>
          <p:spPr>
            <a:xfrm>
              <a:off x="497542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gradFill>
              <a:gsLst>
                <a:gs pos="0">
                  <a:srgbClr val="D1A33C"/>
                </a:gs>
                <a:gs pos="100000">
                  <a:srgbClr val="F2D713"/>
                </a:gs>
              </a:gsLst>
              <a:lin ang="2700000" scaled="0"/>
            </a:gra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492B512B-00DF-4C22-8B20-45FAB1E0AD89}"/>
                </a:ext>
              </a:extLst>
            </p:cNvPr>
            <p:cNvSpPr/>
            <p:nvPr/>
          </p:nvSpPr>
          <p:spPr>
            <a:xfrm>
              <a:off x="1494056" y="-622846"/>
              <a:ext cx="54245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chemeClr val="tx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38943F41-85E4-441B-AAD1-31D2105EE508}"/>
                </a:ext>
              </a:extLst>
            </p:cNvPr>
            <p:cNvSpPr/>
            <p:nvPr/>
          </p:nvSpPr>
          <p:spPr>
            <a:xfrm>
              <a:off x="918596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chemeClr val="tx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973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90AF1-4539-0867-BA38-CC42C193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A7B06-634F-9822-5D8D-DE1CFC6F4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80B70-71CF-3A13-FD65-2DFBA7295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92A23-8EB8-4772-A044-B18C1EE87C7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7425-33B9-19D3-888E-98C5E20F3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6C8D0-D071-3EFB-44F1-59E2C9320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1008F-6C81-4200-B38A-DED6A0811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6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D58189-E965-DC89-AE62-EB4C6F644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392564"/>
              </p:ext>
            </p:extLst>
          </p:nvPr>
        </p:nvGraphicFramePr>
        <p:xfrm>
          <a:off x="364059" y="2200739"/>
          <a:ext cx="11345341" cy="4073519"/>
        </p:xfrm>
        <a:graphic>
          <a:graphicData uri="http://schemas.openxmlformats.org/drawingml/2006/table">
            <a:tbl>
              <a:tblPr/>
              <a:tblGrid>
                <a:gridCol w="3937500">
                  <a:extLst>
                    <a:ext uri="{9D8B030D-6E8A-4147-A177-3AD203B41FA5}">
                      <a16:colId xmlns:a16="http://schemas.microsoft.com/office/drawing/2014/main" val="1166511858"/>
                    </a:ext>
                  </a:extLst>
                </a:gridCol>
                <a:gridCol w="3937500">
                  <a:extLst>
                    <a:ext uri="{9D8B030D-6E8A-4147-A177-3AD203B41FA5}">
                      <a16:colId xmlns:a16="http://schemas.microsoft.com/office/drawing/2014/main" val="3238352325"/>
                    </a:ext>
                  </a:extLst>
                </a:gridCol>
                <a:gridCol w="3470341">
                  <a:extLst>
                    <a:ext uri="{9D8B030D-6E8A-4147-A177-3AD203B41FA5}">
                      <a16:colId xmlns:a16="http://schemas.microsoft.com/office/drawing/2014/main" val="4222884428"/>
                    </a:ext>
                  </a:extLst>
                </a:gridCol>
              </a:tblGrid>
              <a:tr h="306372"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en-US" sz="1300" b="1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Project Details</a:t>
                      </a:r>
                      <a:r>
                        <a:rPr lang="en-US" sz="13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​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032059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Project Topic</a:t>
                      </a:r>
                      <a:r>
                        <a:rPr lang="en-US" sz="13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​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300" b="1" i="0" kern="1200" dirty="0">
                          <a:solidFill>
                            <a:srgbClr val="01010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Supply Chain Analytics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838104"/>
                  </a:ext>
                </a:extLst>
              </a:tr>
              <a:tr h="88817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Project Description</a:t>
                      </a:r>
                      <a:r>
                        <a:rPr lang="en-US" sz="13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with business teams to figure out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success looks like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track down the right data from our procurement systems.</a:t>
                      </a:r>
                      <a:br>
                        <a:rPr lang="en-US" sz="1200" dirty="0"/>
                      </a:b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Clean, shape, and supercharge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that data using tools like SQL, and turn it into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eye-catching dashboards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 Power BI—complete with charts, leaderboards, and trend lines.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Indicators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across ABI, benchmark countries for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smartest ways of working 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highlight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gaps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Implement t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 driven approach using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SQL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 present insights via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BI dashboards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senior leadership so they can make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big, impactful decisions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200" b="0" i="0" dirty="0">
                        <a:solidFill>
                          <a:srgbClr val="01010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656254"/>
                  </a:ext>
                </a:extLst>
              </a:tr>
              <a:tr h="306372">
                <a:tc rowSpan="4">
                  <a:txBody>
                    <a:bodyPr/>
                    <a:lstStyle/>
                    <a:p>
                      <a:pPr algn="l" fontAlgn="base"/>
                      <a:r>
                        <a:rPr lang="en-US" sz="1300" b="1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Project KPI</a:t>
                      </a:r>
                      <a:r>
                        <a:rPr lang="en-US" sz="13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​s</a:t>
                      </a:r>
                      <a:endParaRPr lang="en-US" sz="1300" b="0" i="0" dirty="0">
                        <a:solidFill>
                          <a:srgbClr val="01010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Planned 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 u="none" strike="noStrike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KPI %</a:t>
                      </a:r>
                      <a:r>
                        <a:rPr lang="en-US" sz="13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​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093749"/>
                  </a:ext>
                </a:extLst>
              </a:tr>
              <a:tr h="3419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Data Modelling and Visualization</a:t>
                      </a:r>
                    </a:p>
                  </a:txBody>
                  <a:tcPr marL="71051" marR="71051" marT="35526" marB="35526" anchor="ctr"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40%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700652"/>
                  </a:ext>
                </a:extLst>
              </a:tr>
              <a:tr h="3419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Business Insights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30%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205881"/>
                  </a:ext>
                </a:extLst>
              </a:tr>
              <a:tr h="341992">
                <a:tc vMerge="1">
                  <a:txBody>
                    <a:bodyPr/>
                    <a:lstStyle/>
                    <a:p>
                      <a:pPr algn="l" fontAlgn="base"/>
                      <a:endParaRPr lang="en-US" sz="1300" b="0" i="0" dirty="0">
                        <a:solidFill>
                          <a:srgbClr val="01010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Interact with end user and improve adoption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0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20%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13833"/>
                  </a:ext>
                </a:extLst>
              </a:tr>
              <a:tr h="34199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300" b="1" i="0" dirty="0">
                          <a:solidFill>
                            <a:srgbClr val="010101"/>
                          </a:solidFill>
                          <a:effectLst/>
                          <a:latin typeface="+mn-lt"/>
                          <a:cs typeface="Times New Roman"/>
                        </a:rPr>
                        <a:t>Business Requirements</a:t>
                      </a:r>
                      <a:endParaRPr lang="en-IN" sz="1300" b="0" i="0" dirty="0">
                        <a:solidFill>
                          <a:srgbClr val="010101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</a:t>
                      </a:r>
                      <a:r>
                        <a:rPr 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Supply Chain department at ABI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ensures that products move seamlessly from raw material sourcing, through production, to distribution—so they reach customers on time, in full, and at the right cost.</a:t>
                      </a:r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orchestrates the entire flow of goods and information, balancing efficiency, quality, and sustainability to keep the business running smoothly across global markets.</a:t>
                      </a:r>
                    </a:p>
                  </a:txBody>
                  <a:tcPr marL="71051" marR="71051" marT="35526" marB="35526" anchor="ctr"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31912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9D6B8CB-8AB8-4905-E33B-D05CC7B3F932}"/>
              </a:ext>
            </a:extLst>
          </p:cNvPr>
          <p:cNvSpPr txBox="1"/>
          <p:nvPr/>
        </p:nvSpPr>
        <p:spPr>
          <a:xfrm>
            <a:off x="240182" y="417587"/>
            <a:ext cx="11185248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latin typeface="Arial"/>
                <a:cs typeface="Arial"/>
              </a:rPr>
              <a:t>Internship Project Charter – Supply Chain Analytics</a:t>
            </a:r>
            <a:endParaRPr lang="en-US" sz="2400" dirty="0">
              <a:latin typeface="Arial"/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C7A0E7-1B35-7239-92C2-5DC9F948B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04151"/>
              </p:ext>
            </p:extLst>
          </p:nvPr>
        </p:nvGraphicFramePr>
        <p:xfrm>
          <a:off x="364059" y="879252"/>
          <a:ext cx="6030027" cy="1158240"/>
        </p:xfrm>
        <a:graphic>
          <a:graphicData uri="http://schemas.openxmlformats.org/drawingml/2006/table">
            <a:tbl>
              <a:tblPr/>
              <a:tblGrid>
                <a:gridCol w="2930502">
                  <a:extLst>
                    <a:ext uri="{9D8B030D-6E8A-4147-A177-3AD203B41FA5}">
                      <a16:colId xmlns:a16="http://schemas.microsoft.com/office/drawing/2014/main" val="4108911401"/>
                    </a:ext>
                  </a:extLst>
                </a:gridCol>
                <a:gridCol w="3099525">
                  <a:extLst>
                    <a:ext uri="{9D8B030D-6E8A-4147-A177-3AD203B41FA5}">
                      <a16:colId xmlns:a16="http://schemas.microsoft.com/office/drawing/2014/main" val="186380207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effectLst/>
                        </a:rPr>
                        <a:t>Intern </a:t>
                      </a:r>
                      <a:r>
                        <a:rPr lang="en-US" sz="1300" b="1" i="0" kern="1200" dirty="0">
                          <a:solidFill>
                            <a:srgbClr val="01010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423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 dirty="0">
                          <a:effectLst/>
                        </a:rPr>
                        <a:t>Name</a:t>
                      </a:r>
                      <a:endParaRPr lang="en-US" sz="13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i="1">
                          <a:effectLst/>
                        </a:rPr>
                        <a:t>To be filled after selection</a:t>
                      </a:r>
                      <a:endParaRPr lang="en-US" sz="13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347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 dirty="0">
                          <a:effectLst/>
                        </a:rPr>
                        <a:t>Function</a:t>
                      </a:r>
                      <a:endParaRPr lang="en-US" sz="13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Procurement Analytics (Supply Chain)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290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</a:rPr>
                        <a:t>Team / Tower</a:t>
                      </a:r>
                      <a:endParaRPr lang="en-US" sz="13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GBS Tech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21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874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2F9A6AEA7BC2448A25CB7E94C3D94D" ma:contentTypeVersion="3" ma:contentTypeDescription="Create a new document." ma:contentTypeScope="" ma:versionID="04439ffb3f640a495c88408ab1285c0c">
  <xsd:schema xmlns:xsd="http://www.w3.org/2001/XMLSchema" xmlns:xs="http://www.w3.org/2001/XMLSchema" xmlns:p="http://schemas.microsoft.com/office/2006/metadata/properties" xmlns:ns2="1357138e-ea3f-4e42-a0f3-5a1df8960526" targetNamespace="http://schemas.microsoft.com/office/2006/metadata/properties" ma:root="true" ma:fieldsID="a11b759453cb80887098a8f26b6922b9" ns2:_="">
    <xsd:import namespace="1357138e-ea3f-4e42-a0f3-5a1df89605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7138e-ea3f-4e42-a0f3-5a1df89605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D1B20-4111-475F-9634-E9C3452618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7138e-ea3f-4e42-a0f3-5a1df89605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E72994-E8A4-4611-B76F-6BA16564259A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1357138e-ea3f-4e42-a0f3-5a1df8960526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2A0270D-D2F3-4DB9-8D0C-ABABC9E5B8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235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Rajgopal, Vaishnavi</dc:creator>
  <cp:lastModifiedBy>Poojary Veena</cp:lastModifiedBy>
  <cp:revision>5</cp:revision>
  <dcterms:created xsi:type="dcterms:W3CDTF">2024-11-29T10:59:05Z</dcterms:created>
  <dcterms:modified xsi:type="dcterms:W3CDTF">2025-10-15T11:22:39Z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2024-11-29T11:36:40Z</vt:lpwstr>
  </property>
  <property fmtid="{D5CDD505-2E9C-101B-9397-08002B2CF9AE}" pid="4" name="MSIP_Label_68104b14-b53d-46de-9ae8-975cc0e84815_Method">
    <vt:lpwstr>Standard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b8ab2496-1e58-4d7d-8e87-c4969cfa77ff</vt:lpwstr>
  </property>
  <property fmtid="{D5CDD505-2E9C-101B-9397-08002B2CF9AE}" pid="8" name="MSIP_Label_68104b14-b53d-46de-9ae8-975cc0e84815_ContentBits">
    <vt:lpwstr>0</vt:lpwstr>
  </property>
  <property fmtid="{D5CDD505-2E9C-101B-9397-08002B2CF9AE}" pid="9" name="ContentTypeId">
    <vt:lpwstr>0x0101007E2F9A6AEA7BC2448A25CB7E94C3D94D</vt:lpwstr>
  </property>
</Properties>
</file>